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618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push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45720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dirty="0">
                <a:solidFill>
                  <a:srgbClr val="000000">
                    <a:alpha val="15000"/>
                  </a:srgbClr>
                </a:solidFill>
              </a:rPr>
              <a:t>🚌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GoReserve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Ticket Booking System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4114800" cy="45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Spring Boot  •  Thymeleaf  •  Spring Security  •  JDK 21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4015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 •  BCrypt Encryption  •  MVC Architecture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1B2D"/>
          </a:solidFill>
          <a:ln w="12700">
            <a:solidFill>
              <a:srgbClr val="151B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Java Web Application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1B2D"/>
          </a:solidFill>
          <a:ln w="12700">
            <a:solidFill>
              <a:srgbClr val="15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169164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full-featured online bus ticket booking platform for Indian travellers — fast, reliable, and affordable.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023360" cy="169164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roles: Admin manages buses &amp; users; Registered users search, book, pay &amp; cancel tickets.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023360" cy="169164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5156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payment flow with UPI, credit/debit card options. Refunds processed on cancellation in 2–3 days.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023360" cy="169164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with BCrypt password encryption, role-based routing, and custom authentication handler.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1B2D"/>
          </a:solidFill>
          <a:ln w="12700">
            <a:solidFill>
              <a:srgbClr val="15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691640"/>
          </a:xfrm>
          <a:prstGeom prst="rect">
            <a:avLst/>
          </a:prstGeom>
          <a:solidFill>
            <a:srgbClr val="232B3E"/>
          </a:solidFill>
          <a:ln w="25400">
            <a:solidFill>
              <a:srgbClr val="6DB33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64008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🍃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 &amp; REST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691640"/>
          </a:xfrm>
          <a:prstGeom prst="rect">
            <a:avLst/>
          </a:prstGeom>
          <a:solidFill>
            <a:srgbClr val="232B3E"/>
          </a:solidFill>
          <a:ln w="25400">
            <a:solidFill>
              <a:srgbClr val="005F0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43200" cy="64008"/>
          </a:xfrm>
          <a:prstGeom prst="rect">
            <a:avLst/>
          </a:prstGeom>
          <a:solidFill>
            <a:srgbClr val="005F0F"/>
          </a:solidFill>
          <a:ln w="12700">
            <a:solidFill>
              <a:srgbClr val="005F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8620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Thymeleaf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HTML templating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43200" cy="1691640"/>
          </a:xfrm>
          <a:prstGeom prst="rect">
            <a:avLst/>
          </a:prstGeom>
          <a:solidFill>
            <a:srgbClr val="232B3E"/>
          </a:solidFill>
          <a:ln w="25400">
            <a:solidFill>
              <a:srgbClr val="6DB33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743200" cy="64008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Security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role-based access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743200" cy="1691640"/>
          </a:xfrm>
          <a:prstGeom prst="rect">
            <a:avLst/>
          </a:prstGeom>
          <a:solidFill>
            <a:srgbClr val="232B3E"/>
          </a:solidFill>
          <a:ln w="25400">
            <a:solidFill>
              <a:srgbClr val="F8982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2743200" cy="64008"/>
          </a:xfrm>
          <a:prstGeom prst="rect">
            <a:avLst/>
          </a:prstGeom>
          <a:solidFill>
            <a:srgbClr val="F89820"/>
          </a:solidFill>
          <a:ln w="12700">
            <a:solidFill>
              <a:srgbClr val="F898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JDK 21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LTS Java runtime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43200" cy="1691640"/>
          </a:xfrm>
          <a:prstGeom prst="rect">
            <a:avLst/>
          </a:prstGeom>
          <a:solidFill>
            <a:srgbClr val="232B3E"/>
          </a:solidFill>
          <a:ln w="254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80360"/>
            <a:ext cx="27432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8620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BCrypt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83280" y="3657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&amp; encryption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743200" cy="1691640"/>
          </a:xfrm>
          <a:prstGeom prst="rect">
            <a:avLst/>
          </a:prstGeom>
          <a:solidFill>
            <a:srgbClr val="232B3E"/>
          </a:solidFill>
          <a:ln w="25400">
            <a:solidFill>
              <a:srgbClr val="447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2743200" cy="64008"/>
          </a:xfrm>
          <a:prstGeom prst="rect">
            <a:avLst/>
          </a:prstGeom>
          <a:solidFill>
            <a:srgbClr val="4479A1"/>
          </a:solidFill>
          <a:ln w="12700">
            <a:solidFill>
              <a:srgbClr val="4479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1228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 / JPA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09360" y="3657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ORM persistence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1B2D"/>
          </a:solidFill>
          <a:ln w="12700">
            <a:solidFill>
              <a:srgbClr val="15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95360" cy="822960"/>
          </a:xfrm>
          <a:prstGeom prst="rect">
            <a:avLst/>
          </a:prstGeom>
          <a:solidFill>
            <a:srgbClr val="232B3E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96112"/>
            <a:ext cx="1645920" cy="822960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9611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57400" y="941832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HomeController  •  AdminController  •  BookingController  •  PaymentController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8595360" cy="822960"/>
          </a:xfrm>
          <a:prstGeom prst="rect">
            <a:avLst/>
          </a:prstGeom>
          <a:solidFill>
            <a:srgbClr val="232B3E"/>
          </a:solidFill>
          <a:ln w="1905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01952"/>
            <a:ext cx="1645920" cy="822960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0195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57400" y="1947672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+ Impl pattern  •  UserService  •  BusService  •  BookingService  •  PaymentService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07792"/>
            <a:ext cx="8595360" cy="822960"/>
          </a:xfrm>
          <a:prstGeom prst="rect">
            <a:avLst/>
          </a:prstGeom>
          <a:solidFill>
            <a:srgbClr val="232B3E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07792"/>
            <a:ext cx="1645920" cy="82296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90779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57400" y="2953512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UserRepo  •  BusRepo  •  BookingRepo  •  ArchivedBookingRepo  •  PaymentRepo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913632"/>
            <a:ext cx="8595360" cy="822960"/>
          </a:xfrm>
          <a:prstGeom prst="rect">
            <a:avLst/>
          </a:prstGeom>
          <a:solidFill>
            <a:srgbClr val="232B3E"/>
          </a:solidFill>
          <a:ln w="19050">
            <a:solidFill>
              <a:srgbClr val="F5C51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913632"/>
            <a:ext cx="1645920" cy="822960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1363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57400" y="3959352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•  Role  •  Bus  •  Booking  •  ArchivedBooking  •  Payment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1B2D"/>
          </a:solidFill>
          <a:ln w="12700">
            <a:solidFill>
              <a:srgbClr val="15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Authentication &amp; Security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840480" cy="393192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Flow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User submits email + password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8562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Spring Security validates credentials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2951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BCrypt verifies hashed password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7340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AuthenticationSuccessHandler fires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1729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ADMIN → /adminBusList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 USER → /userBusList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0507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7️⃣  Username shown in navbar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822960"/>
            <a:ext cx="4480560" cy="393192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Features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1417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Custom Login &amp; Logout pages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18562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Role-based URL access control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22951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BCrypt password encryption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0" y="273405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as username (unique)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0" y="31729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CSRF protection enabled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0" y="36118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Session management &amp; invalidation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0" y="40507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Role-specific redirect after login</a:t>
            </a:r>
            <a:endParaRPr lang="en-US" sz="125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1B2D"/>
          </a:solidFill>
          <a:ln w="12700">
            <a:solidFill>
              <a:srgbClr val="15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User Side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788920" cy="1737360"/>
          </a:xfrm>
          <a:prstGeom prst="rect">
            <a:avLst/>
          </a:prstGeom>
          <a:solidFill>
            <a:srgbClr val="232B3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68680"/>
            <a:ext cx="27889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332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033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Bus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52704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buses by source and destination. Results show bus name, type, departure, arrival, seats, fare, and distance.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868680"/>
            <a:ext cx="2788920" cy="1737360"/>
          </a:xfrm>
          <a:prstGeom prst="rect">
            <a:avLst/>
          </a:prstGeom>
          <a:solidFill>
            <a:srgbClr val="232B3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868680"/>
            <a:ext cx="278892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0332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58768" y="1033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 Ticket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152704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bus, enter mobile number &amp; number of seats. System validates availability before confirming the booking.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868680"/>
            <a:ext cx="2788920" cy="1737360"/>
          </a:xfrm>
          <a:prstGeom prst="rect">
            <a:avLst/>
          </a:prstGeom>
          <a:solidFill>
            <a:srgbClr val="232B3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868680"/>
            <a:ext cx="2788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0332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48856" y="1033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0216" y="152704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UPI, credit card, or debit card. Booking linked to payment with status tracking (PENDING/PAID).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788920"/>
            <a:ext cx="2788920" cy="1737360"/>
          </a:xfrm>
          <a:prstGeom prst="rect">
            <a:avLst/>
          </a:prstGeom>
          <a:solidFill>
            <a:srgbClr val="232B3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78892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53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" y="2953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 History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344728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Ticket-style layout showing Ticket ID, bus name, route, journey date, fare, seats, and booked-on timestamp.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72968" y="2788920"/>
            <a:ext cx="2788920" cy="1737360"/>
          </a:xfrm>
          <a:prstGeom prst="rect">
            <a:avLst/>
          </a:prstGeom>
          <a:solidFill>
            <a:srgbClr val="232B3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2968" y="2788920"/>
            <a:ext cx="27889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953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58768" y="2953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Cancel Ticket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10128" y="344728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 cancel active bookings. System moves to ArchivedBooking and shows: 'Payment will be refunded within 2–3 days.'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3056" y="2788920"/>
            <a:ext cx="2788920" cy="1737360"/>
          </a:xfrm>
          <a:prstGeom prst="rect">
            <a:avLst/>
          </a:prstGeom>
          <a:solidFill>
            <a:srgbClr val="232B3E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3056" y="2788920"/>
            <a:ext cx="278892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29535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48856" y="29535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Dark/Light Mode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0216" y="344728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dark and light themes via the navbar for a personalized browsing experience.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1B2D"/>
          </a:solidFill>
          <a:ln w="12700">
            <a:solidFill>
              <a:srgbClr val="15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👨‍💼  Admin Side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828800"/>
          </a:xfrm>
          <a:prstGeom prst="rect">
            <a:avLst/>
          </a:prstGeom>
          <a:solidFill>
            <a:srgbClr val="232B3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0241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Bus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add new buses with name, type (Private/Sleeper/Volvo), route, departure/arrival, fare, seats, driver, and distance.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43200" cy="1828800"/>
          </a:xfrm>
          <a:prstGeom prst="rect">
            <a:avLst/>
          </a:prstGeom>
          <a:solidFill>
            <a:srgbClr val="232B3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31920" y="10241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Bus List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15087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buses in the system at /adminBusList. Separate standalone page without a shared admin layout template.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743200" cy="1828800"/>
          </a:xfrm>
          <a:prstGeom prst="rect">
            <a:avLst/>
          </a:prstGeom>
          <a:solidFill>
            <a:srgbClr val="232B3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868680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0" y="10241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Users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5087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registered users in the system. Admin-only access ensures data privacy and management control.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8595360" cy="192024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🔀  Admin Routing &amp; Design Decisions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34015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AdminController keeps admin and user code cleanly isolated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73989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pages are standalone — no shared adminlayout.html (each page is self-contained)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07822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login redirects directly to /adminBusList via AuthenticationSuccessHandler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41655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routes secured by ROLE_ADMIN — unauthorized access results in 403 Forbidden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1B2D"/>
          </a:solidFill>
          <a:ln w="12700">
            <a:solidFill>
              <a:srgbClr val="15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Data Model &amp; Entities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2788920" cy="1874520"/>
          </a:xfrm>
          <a:prstGeom prst="rect">
            <a:avLst/>
          </a:prstGeom>
          <a:solidFill>
            <a:srgbClr val="232B3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41248"/>
            <a:ext cx="2788920" cy="411480"/>
          </a:xfrm>
          <a:prstGeom prst="rect">
            <a:avLst/>
          </a:prstGeom>
          <a:solidFill>
            <a:srgbClr val="3B82F6">
              <a:alpha val="9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77824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31673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firstName, lastName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65506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(username)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9339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(BCrypt)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33172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roles (ManyToMany)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841248"/>
            <a:ext cx="2788920" cy="1874520"/>
          </a:xfrm>
          <a:prstGeom prst="rect">
            <a:avLst/>
          </a:prstGeom>
          <a:solidFill>
            <a:srgbClr val="232B3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841248"/>
            <a:ext cx="2788920" cy="411480"/>
          </a:xfrm>
          <a:prstGeom prst="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877824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10128" y="131673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65506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 (ROLE_ADMIN / ROLE_USER)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841248"/>
            <a:ext cx="2788920" cy="1874520"/>
          </a:xfrm>
          <a:prstGeom prst="rect">
            <a:avLst/>
          </a:prstGeom>
          <a:solidFill>
            <a:srgbClr val="232B3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841248"/>
            <a:ext cx="2788920" cy="411480"/>
          </a:xfrm>
          <a:prstGeom prst="rect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877824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0216" y="131673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busName, busType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0216" y="165506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routeFrom, routeTo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0216" y="199339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departureTime, arrivalTime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0216" y="233172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fare, availableSeats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0216" y="26700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distance, driverName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2852928"/>
            <a:ext cx="2788920" cy="1874520"/>
          </a:xfrm>
          <a:prstGeom prst="rect">
            <a:avLst/>
          </a:prstGeom>
          <a:solidFill>
            <a:srgbClr val="232B3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2852928"/>
            <a:ext cx="2788920" cy="41148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889504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0040" y="332841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routeFrom, routeTo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366674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journeyDate, seatsBooked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0050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totalFare, mobileNumber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43434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bookedAt, user, bus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72968" y="2852928"/>
            <a:ext cx="2788920" cy="1874520"/>
          </a:xfrm>
          <a:prstGeom prst="rect">
            <a:avLst/>
          </a:prstGeom>
          <a:solidFill>
            <a:srgbClr val="232B3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72968" y="2852928"/>
            <a:ext cx="2788920" cy="411480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2889504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ArchivedBooking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310128" y="332841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(mirrors Booking)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0128" y="366674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booking fields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10128" y="40050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cancelledAt timestamp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63056" y="2852928"/>
            <a:ext cx="2788920" cy="1874520"/>
          </a:xfrm>
          <a:prstGeom prst="rect">
            <a:avLst/>
          </a:prstGeom>
          <a:solidFill>
            <a:srgbClr val="232B3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63056" y="2852928"/>
            <a:ext cx="2788920" cy="41148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2889504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300216" y="332841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paymentMethod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0216" y="366674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paymentStatus (PENDING/PAID)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0216" y="40050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booking_id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0216" y="43434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archived_booking_id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1B2D"/>
          </a:solidFill>
          <a:ln w="12700">
            <a:solidFill>
              <a:srgbClr val="15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💳  Booking &amp; Payment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65960" cy="2103120"/>
          </a:xfrm>
          <a:prstGeom prst="rect">
            <a:avLst/>
          </a:prstGeom>
          <a:solidFill>
            <a:srgbClr val="232B3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60120"/>
            <a:ext cx="685800" cy="6858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Bus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From &amp; To city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filtered from Bus entity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1828800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868680"/>
            <a:ext cx="1965960" cy="2103120"/>
          </a:xfrm>
          <a:prstGeom prst="rect">
            <a:avLst/>
          </a:prstGeom>
          <a:solidFill>
            <a:srgbClr val="232B3E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960120"/>
            <a:ext cx="685800" cy="6858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1460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 Booking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21762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 + seats entered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record created (PENDING)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1828800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868680"/>
            <a:ext cx="1965960" cy="2103120"/>
          </a:xfrm>
          <a:prstGeom prst="rect">
            <a:avLst/>
          </a:prstGeom>
          <a:solidFill>
            <a:srgbClr val="232B3E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960120"/>
            <a:ext cx="685800" cy="6858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21762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UPI / Credit / Debit Card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linked to booking_id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1828800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868680"/>
            <a:ext cx="1965960" cy="2103120"/>
          </a:xfrm>
          <a:prstGeom prst="rect">
            <a:avLst/>
          </a:prstGeom>
          <a:solidFill>
            <a:srgbClr val="232B3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96012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1228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21762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→ PAID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visible in My Bookings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232B3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Cancellation Flow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" y="367588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"Cancel Ticket"  →  Booking moved to ArchivedBooking table  →  Payment linked to archived_booking_id  →  User sees: "Payment will be refunded within 2–3 days."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1B2D"/>
          </a:solidFill>
          <a:ln w="12700">
            <a:solidFill>
              <a:srgbClr val="15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UI Pages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91440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Page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14600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/index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banner, 'Why Choose GoReserve' cards, About section, Dark/Light toggle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91440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22960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961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Page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0" y="914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Split-layout with animated bus graphic, email/password form, 'Create an account' link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1901952"/>
            <a:ext cx="4206240" cy="91440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901952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9751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Page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14600" y="19933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359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name, Last name, Email, Password. Same split-layout as login.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901952"/>
            <a:ext cx="4206240" cy="91440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901952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9751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Buses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19933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/findBus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359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From/To search inputs, Search Bus button, available buses listed with Book Now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2980944"/>
            <a:ext cx="4206240" cy="91440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980944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0540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 List (User)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14600" y="30723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/userBusList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4381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grid: bus name, type, route, date, departure/arrival, seats, fare, driver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980944"/>
            <a:ext cx="4206240" cy="91440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980944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0540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 Booking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30723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/confirmBooking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4381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details summary, mobile number input, seat count, Confirm &amp; Proceed to Payment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" y="4059936"/>
            <a:ext cx="4206240" cy="91440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4059936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1330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 Page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514600" y="41513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/payment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" y="45171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summary, payment method selector (UPI/Card), dynamic input field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4059936"/>
            <a:ext cx="4206240" cy="914400"/>
          </a:xfrm>
          <a:prstGeom prst="rect">
            <a:avLst/>
          </a:prstGeom>
          <a:solidFill>
            <a:srgbClr val="232B3E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4059936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1330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 History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49440" y="41513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/myBookings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0" y="45171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Ticket-style cards with PAID badge, journey details, Cancel Ticket button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6576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dirty="0">
                <a:solidFill>
                  <a:srgbClr val="000000">
                    <a:alpha val="12000"/>
                  </a:srgbClr>
                </a:solidFill>
              </a:rPr>
              <a:t>🚌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GoReserve — Book Your Journey in Minutes. Safe, Fast &amp; Reliable.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2834640"/>
            <a:ext cx="4572000" cy="365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063240"/>
            <a:ext cx="1554480" cy="411480"/>
          </a:xfrm>
          <a:prstGeom prst="rect">
            <a:avLst/>
          </a:prstGeom>
          <a:solidFill>
            <a:srgbClr val="232B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3063240"/>
            <a:ext cx="1554480" cy="411480"/>
          </a:xfrm>
          <a:prstGeom prst="rect">
            <a:avLst/>
          </a:prstGeom>
          <a:solidFill>
            <a:srgbClr val="232B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3063240"/>
            <a:ext cx="1554480" cy="411480"/>
          </a:xfrm>
          <a:prstGeom prst="rect">
            <a:avLst/>
          </a:prstGeom>
          <a:solidFill>
            <a:srgbClr val="232B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3063240"/>
            <a:ext cx="1554480" cy="411480"/>
          </a:xfrm>
          <a:prstGeom prst="rect">
            <a:avLst/>
          </a:prstGeom>
          <a:solidFill>
            <a:srgbClr val="232B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21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3063240"/>
            <a:ext cx="1554480" cy="411480"/>
          </a:xfrm>
          <a:prstGeom prst="rect">
            <a:avLst/>
          </a:prstGeom>
          <a:solidFill>
            <a:srgbClr val="232B3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389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❤️  |  Role-based  •  Secure  •  Full-stack Java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965</Words>
  <Application>Microsoft Office PowerPoint</Application>
  <PresentationFormat>On-screen Show (16:9)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GoReserve - Bus Booking System</dc:title>
  <dc:subject>PptxGenJS Presentation</dc:subject>
  <dc:creator>PptxGenJS</dc:creator>
  <cp:lastModifiedBy>hp</cp:lastModifiedBy>
  <cp:revision>5</cp:revision>
  <dcterms:created xsi:type="dcterms:W3CDTF">2026-02-27T15:08:42Z</dcterms:created>
  <dcterms:modified xsi:type="dcterms:W3CDTF">2026-02-27T16:03:46Z</dcterms:modified>
</cp:coreProperties>
</file>